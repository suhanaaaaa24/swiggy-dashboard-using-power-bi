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262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8778240" y="-2011680"/>
            <a:ext cx="5943600" cy="5943600"/>
          </a:xfrm>
          <a:prstGeom prst="ellipse">
            <a:avLst/>
          </a:prstGeom>
          <a:solidFill>
            <a:srgbClr val="FC8019">
              <a:alpha val="12000"/>
            </a:srgbClr>
          </a:solidFill>
          <a:ln/>
        </p:spPr>
      </p:sp>
      <p:sp>
        <p:nvSpPr>
          <p:cNvPr id="3" name="Shape 1"/>
          <p:cNvSpPr/>
          <p:nvPr/>
        </p:nvSpPr>
        <p:spPr>
          <a:xfrm>
            <a:off x="10332720" y="4206240"/>
            <a:ext cx="3657600" cy="3657600"/>
          </a:xfrm>
          <a:prstGeom prst="ellipse">
            <a:avLst/>
          </a:prstGeom>
          <a:solidFill>
            <a:srgbClr val="FC8019">
              <a:alpha val="10000"/>
            </a:srgbClr>
          </a:solidFill>
          <a:ln/>
        </p:spPr>
      </p:sp>
      <p:sp>
        <p:nvSpPr>
          <p:cNvPr id="4" name="Text 2"/>
          <p:cNvSpPr txBox="1"/>
          <p:nvPr/>
        </p:nvSpPr>
        <p:spPr>
          <a:xfrm>
            <a:off x="822960" y="2331720"/>
            <a:ext cx="8229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300" kern="0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POWER BI DASHBOARD DOCUMENTATION</a:t>
            </a:r>
            <a:endParaRPr lang="en-US" sz="1400" dirty="0"/>
          </a:p>
        </p:txBody>
      </p:sp>
      <p:sp>
        <p:nvSpPr>
          <p:cNvPr id="5" name="Text 3"/>
          <p:cNvSpPr txBox="1"/>
          <p:nvPr/>
        </p:nvSpPr>
        <p:spPr>
          <a:xfrm>
            <a:off x="777240" y="2697480"/>
            <a:ext cx="1005840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5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Swiggy Order Analytics</a:t>
            </a:r>
            <a:endParaRPr lang="en-US" sz="5000" dirty="0"/>
          </a:p>
        </p:txBody>
      </p:sp>
      <p:sp>
        <p:nvSpPr>
          <p:cNvPr id="6" name="Text 4"/>
          <p:cNvSpPr txBox="1"/>
          <p:nvPr/>
        </p:nvSpPr>
        <p:spPr>
          <a:xfrm>
            <a:off x="822960" y="3794760"/>
            <a:ext cx="86868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FC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Data model, DAX measures, chart specifications and dashboard layout for a</a:t>
            </a:r>
            <a:endParaRPr lang="en-US" sz="1500" dirty="0"/>
          </a:p>
          <a:p>
            <a:pPr indent="0" marL="0">
              <a:lnSpc>
                <a:spcPct val="120000"/>
              </a:lnSpc>
              <a:buNone/>
            </a:pPr>
            <a:r>
              <a:rPr lang="en-US" sz="1500" dirty="0">
                <a:solidFill>
                  <a:srgbClr val="CFCFD2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swiggy-style order, customer and restaurant dataset.</a:t>
            </a:r>
            <a:endParaRPr lang="en-US" sz="1500" dirty="0"/>
          </a:p>
        </p:txBody>
      </p:sp>
      <p:sp>
        <p:nvSpPr>
          <p:cNvPr id="7" name="Shape 5"/>
          <p:cNvSpPr/>
          <p:nvPr/>
        </p:nvSpPr>
        <p:spPr>
          <a:xfrm>
            <a:off x="822960" y="4709160"/>
            <a:ext cx="548640" cy="54864"/>
          </a:xfrm>
          <a:prstGeom prst="rect">
            <a:avLst/>
          </a:prstGeom>
          <a:solidFill>
            <a:srgbClr val="FC801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822960" y="5989320"/>
            <a:ext cx="7315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 Anusha Haridas   |   Learning &amp; Development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01 — OVERVIEW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02920" cy="45720"/>
          </a:xfrm>
          <a:prstGeom prst="rect">
            <a:avLst/>
          </a:prstGeom>
          <a:solidFill>
            <a:srgbClr val="FC8019"/>
          </a:solidFill>
          <a:ln/>
        </p:spPr>
      </p:sp>
      <p:sp>
        <p:nvSpPr>
          <p:cNvPr id="5" name="Shape 3"/>
          <p:cNvSpPr/>
          <p:nvPr/>
        </p:nvSpPr>
        <p:spPr>
          <a:xfrm>
            <a:off x="640080" y="1874520"/>
            <a:ext cx="566928" cy="566928"/>
          </a:xfrm>
          <a:prstGeom prst="ellipse">
            <a:avLst/>
          </a:prstGeom>
          <a:solidFill>
            <a:srgbClr val="FC801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40080" y="187452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🎯</a:t>
            </a:r>
            <a:endParaRPr lang="en-US" sz="1612" dirty="0"/>
          </a:p>
        </p:txBody>
      </p:sp>
      <p:sp>
        <p:nvSpPr>
          <p:cNvPr id="7" name="Text 5"/>
          <p:cNvSpPr txBox="1"/>
          <p:nvPr/>
        </p:nvSpPr>
        <p:spPr>
          <a:xfrm>
            <a:off x="1508760" y="182880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Build an interactive Power BI dashboard on Swiggy-style order data to track revenue, volume and delivery performance.</a:t>
            </a:r>
            <a:endParaRPr lang="en-US" sz="1500" dirty="0"/>
          </a:p>
        </p:txBody>
      </p:sp>
      <p:sp>
        <p:nvSpPr>
          <p:cNvPr id="8" name="Shape 6"/>
          <p:cNvSpPr/>
          <p:nvPr/>
        </p:nvSpPr>
        <p:spPr>
          <a:xfrm>
            <a:off x="640080" y="2926080"/>
            <a:ext cx="566928" cy="566928"/>
          </a:xfrm>
          <a:prstGeom prst="ellipse">
            <a:avLst/>
          </a:prstGeom>
          <a:solidFill>
            <a:srgbClr val="FC8019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40080" y="292608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🔗</a:t>
            </a:r>
            <a:endParaRPr lang="en-US" sz="1612" dirty="0"/>
          </a:p>
        </p:txBody>
      </p:sp>
      <p:sp>
        <p:nvSpPr>
          <p:cNvPr id="10" name="Text 8"/>
          <p:cNvSpPr txBox="1"/>
          <p:nvPr/>
        </p:nvSpPr>
        <p:spPr>
          <a:xfrm>
            <a:off x="1508760" y="288036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a proper star schema linking Orders, Customers and Restaurants for accurate, scalable analysis.</a:t>
            </a:r>
            <a:endParaRPr lang="en-US" sz="1500" dirty="0"/>
          </a:p>
        </p:txBody>
      </p:sp>
      <p:sp>
        <p:nvSpPr>
          <p:cNvPr id="11" name="Shape 9"/>
          <p:cNvSpPr/>
          <p:nvPr/>
        </p:nvSpPr>
        <p:spPr>
          <a:xfrm>
            <a:off x="640080" y="3977640"/>
            <a:ext cx="566928" cy="566928"/>
          </a:xfrm>
          <a:prstGeom prst="ellipse">
            <a:avLst/>
          </a:prstGeom>
          <a:solidFill>
            <a:srgbClr val="FC801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0080" y="397764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📈</a:t>
            </a:r>
            <a:endParaRPr lang="en-US" sz="1612" dirty="0"/>
          </a:p>
        </p:txBody>
      </p:sp>
      <p:sp>
        <p:nvSpPr>
          <p:cNvPr id="13" name="Text 11"/>
          <p:cNvSpPr txBox="1"/>
          <p:nvPr/>
        </p:nvSpPr>
        <p:spPr>
          <a:xfrm>
            <a:off x="1508760" y="393192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Surface trends across cuisine, city, payment method and time to support planning decisions.</a:t>
            </a:r>
            <a:endParaRPr lang="en-US" sz="1500" dirty="0"/>
          </a:p>
        </p:txBody>
      </p:sp>
      <p:sp>
        <p:nvSpPr>
          <p:cNvPr id="14" name="Shape 12"/>
          <p:cNvSpPr/>
          <p:nvPr/>
        </p:nvSpPr>
        <p:spPr>
          <a:xfrm>
            <a:off x="640080" y="5029200"/>
            <a:ext cx="566928" cy="566928"/>
          </a:xfrm>
          <a:prstGeom prst="ellipse">
            <a:avLst/>
          </a:prstGeom>
          <a:solidFill>
            <a:srgbClr val="FC801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40080" y="5029200"/>
            <a:ext cx="566928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12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🚦</a:t>
            </a:r>
            <a:endParaRPr lang="en-US" sz="1612" dirty="0"/>
          </a:p>
        </p:txBody>
      </p:sp>
      <p:sp>
        <p:nvSpPr>
          <p:cNvPr id="16" name="Text 14"/>
          <p:cNvSpPr txBox="1"/>
          <p:nvPr/>
        </p:nvSpPr>
        <p:spPr>
          <a:xfrm>
            <a:off x="1508760" y="4983480"/>
            <a:ext cx="996696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5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 operational health — delivery time, cancellations and discount impact — in one view.</a:t>
            </a:r>
            <a:endParaRPr lang="en-US" sz="1500" dirty="0"/>
          </a:p>
        </p:txBody>
      </p:sp>
      <p:sp>
        <p:nvSpPr>
          <p:cNvPr id="17" name="Text 15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Order Analytics — Power BI Dashboard</a:t>
            </a:r>
            <a:endParaRPr lang="en-US" sz="900" dirty="0"/>
          </a:p>
        </p:txBody>
      </p:sp>
      <p:sp>
        <p:nvSpPr>
          <p:cNvPr id="18" name="Text 16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02 — DATA MODEL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Information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02920" cy="45720"/>
          </a:xfrm>
          <a:prstGeom prst="rect">
            <a:avLst/>
          </a:prstGeom>
          <a:solidFill>
            <a:srgbClr val="FC8019"/>
          </a:solidFill>
          <a:ln/>
        </p:spPr>
      </p:sp>
      <p:sp>
        <p:nvSpPr>
          <p:cNvPr id="5" name="Text 3"/>
          <p:cNvSpPr txBox="1"/>
          <p:nvPr/>
        </p:nvSpPr>
        <p:spPr>
          <a:xfrm>
            <a:off x="548640" y="1481328"/>
            <a:ext cx="109728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connected CSV tables form the data model, joined through customer and restaurant keys.</a:t>
            </a:r>
            <a:endParaRPr lang="en-US" sz="1300" dirty="0"/>
          </a:p>
        </p:txBody>
      </p:sp>
      <p:sp>
        <p:nvSpPr>
          <p:cNvPr id="6" name="Shape 4"/>
          <p:cNvSpPr/>
          <p:nvPr/>
        </p:nvSpPr>
        <p:spPr>
          <a:xfrm>
            <a:off x="548640" y="2057400"/>
            <a:ext cx="3502152" cy="3794760"/>
          </a:xfrm>
          <a:prstGeom prst="roundRect">
            <a:avLst>
              <a:gd name="adj" fmla="val 2089"/>
            </a:avLst>
          </a:prstGeom>
          <a:solidFill>
            <a:srgbClr val="F4F4F5"/>
          </a:solidFill>
          <a:ln/>
        </p:spPr>
      </p:sp>
      <p:sp>
        <p:nvSpPr>
          <p:cNvPr id="7" name="Shape 5"/>
          <p:cNvSpPr/>
          <p:nvPr/>
        </p:nvSpPr>
        <p:spPr>
          <a:xfrm>
            <a:off x="548640" y="2057400"/>
            <a:ext cx="3502152" cy="502920"/>
          </a:xfrm>
          <a:prstGeom prst="rect">
            <a:avLst/>
          </a:prstGeom>
          <a:solidFill>
            <a:srgbClr val="FC801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548640" y="2057400"/>
            <a:ext cx="3502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Orders</a:t>
            </a:r>
            <a:endParaRPr lang="en-US" sz="1800" dirty="0"/>
          </a:p>
        </p:txBody>
      </p:sp>
      <p:sp>
        <p:nvSpPr>
          <p:cNvPr id="9" name="Text 7"/>
          <p:cNvSpPr txBox="1"/>
          <p:nvPr/>
        </p:nvSpPr>
        <p:spPr>
          <a:xfrm>
            <a:off x="777240" y="2724912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Fact table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777240" y="2999232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8,000 rows</a:t>
            </a:r>
            <a:endParaRPr lang="en-US" sz="22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347472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100" dirty="0"/>
          </a:p>
        </p:txBody>
      </p:sp>
      <p:sp>
        <p:nvSpPr>
          <p:cNvPr id="12" name="Text 10"/>
          <p:cNvSpPr txBox="1"/>
          <p:nvPr/>
        </p:nvSpPr>
        <p:spPr>
          <a:xfrm>
            <a:off x="777240" y="3749040"/>
            <a:ext cx="304495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OrderID, CustomerID, RestaurantID, OrderDate, OrderTime, DeliveryTimeMin, ItemsCount, OrderValue, DiscountAmount, DeliveryFee, PaymentMethod, OrderStatus</a:t>
            </a:r>
            <a:endParaRPr lang="en-US" sz="1050" dirty="0"/>
          </a:p>
        </p:txBody>
      </p:sp>
      <p:sp>
        <p:nvSpPr>
          <p:cNvPr id="13" name="Shape 11"/>
          <p:cNvSpPr/>
          <p:nvPr/>
        </p:nvSpPr>
        <p:spPr>
          <a:xfrm>
            <a:off x="4325112" y="2057400"/>
            <a:ext cx="3502152" cy="3794760"/>
          </a:xfrm>
          <a:prstGeom prst="roundRect">
            <a:avLst>
              <a:gd name="adj" fmla="val 2089"/>
            </a:avLst>
          </a:prstGeom>
          <a:solidFill>
            <a:srgbClr val="F4F4F5"/>
          </a:solidFill>
          <a:ln/>
        </p:spPr>
      </p:sp>
      <p:sp>
        <p:nvSpPr>
          <p:cNvPr id="14" name="Shape 12"/>
          <p:cNvSpPr/>
          <p:nvPr/>
        </p:nvSpPr>
        <p:spPr>
          <a:xfrm>
            <a:off x="4325112" y="2057400"/>
            <a:ext cx="3502152" cy="502920"/>
          </a:xfrm>
          <a:prstGeom prst="rect">
            <a:avLst/>
          </a:prstGeom>
          <a:solidFill>
            <a:srgbClr val="1AA26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4325112" y="2057400"/>
            <a:ext cx="3502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Customers</a:t>
            </a:r>
            <a:endParaRPr lang="en-US" sz="1800" dirty="0"/>
          </a:p>
        </p:txBody>
      </p:sp>
      <p:sp>
        <p:nvSpPr>
          <p:cNvPr id="16" name="Text 14"/>
          <p:cNvSpPr txBox="1"/>
          <p:nvPr/>
        </p:nvSpPr>
        <p:spPr>
          <a:xfrm>
            <a:off x="4553712" y="2724912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1AA26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table</a:t>
            </a:r>
            <a:endParaRPr lang="en-US" sz="1100" dirty="0"/>
          </a:p>
        </p:txBody>
      </p:sp>
      <p:sp>
        <p:nvSpPr>
          <p:cNvPr id="17" name="Text 15"/>
          <p:cNvSpPr txBox="1"/>
          <p:nvPr/>
        </p:nvSpPr>
        <p:spPr>
          <a:xfrm>
            <a:off x="4553712" y="2999232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600 rows</a:t>
            </a:r>
            <a:endParaRPr lang="en-US" sz="2200" dirty="0"/>
          </a:p>
        </p:txBody>
      </p:sp>
      <p:sp>
        <p:nvSpPr>
          <p:cNvPr id="18" name="Text 16"/>
          <p:cNvSpPr txBox="1"/>
          <p:nvPr/>
        </p:nvSpPr>
        <p:spPr>
          <a:xfrm>
            <a:off x="4553712" y="347472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4553712" y="3749040"/>
            <a:ext cx="304495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CustomerID, CustomerName, Gender, Age, City, SignupDate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8101584" y="2057400"/>
            <a:ext cx="3502152" cy="3794760"/>
          </a:xfrm>
          <a:prstGeom prst="roundRect">
            <a:avLst>
              <a:gd name="adj" fmla="val 2089"/>
            </a:avLst>
          </a:prstGeom>
          <a:solidFill>
            <a:srgbClr val="F4F4F5"/>
          </a:solidFill>
          <a:ln/>
        </p:spPr>
      </p:sp>
      <p:sp>
        <p:nvSpPr>
          <p:cNvPr id="21" name="Shape 19"/>
          <p:cNvSpPr/>
          <p:nvPr/>
        </p:nvSpPr>
        <p:spPr>
          <a:xfrm>
            <a:off x="8101584" y="2057400"/>
            <a:ext cx="3502152" cy="502920"/>
          </a:xfrm>
          <a:prstGeom prst="rect">
            <a:avLst/>
          </a:prstGeom>
          <a:solidFill>
            <a:srgbClr val="26272B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8101584" y="2057400"/>
            <a:ext cx="350215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Restaurants</a:t>
            </a:r>
            <a:endParaRPr lang="en-US" sz="1800" dirty="0"/>
          </a:p>
        </p:txBody>
      </p:sp>
      <p:sp>
        <p:nvSpPr>
          <p:cNvPr id="23" name="Text 21"/>
          <p:cNvSpPr txBox="1"/>
          <p:nvPr/>
        </p:nvSpPr>
        <p:spPr>
          <a:xfrm>
            <a:off x="8330184" y="2724912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i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Dimension table</a:t>
            </a:r>
            <a:endParaRPr lang="en-US" sz="1100" dirty="0"/>
          </a:p>
        </p:txBody>
      </p:sp>
      <p:sp>
        <p:nvSpPr>
          <p:cNvPr id="24" name="Text 22"/>
          <p:cNvSpPr txBox="1"/>
          <p:nvPr/>
        </p:nvSpPr>
        <p:spPr>
          <a:xfrm>
            <a:off x="8330184" y="2999232"/>
            <a:ext cx="304495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6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250 rows</a:t>
            </a:r>
            <a:endParaRPr lang="en-US" sz="2200" dirty="0"/>
          </a:p>
        </p:txBody>
      </p:sp>
      <p:sp>
        <p:nvSpPr>
          <p:cNvPr id="25" name="Text 23"/>
          <p:cNvSpPr txBox="1"/>
          <p:nvPr/>
        </p:nvSpPr>
        <p:spPr>
          <a:xfrm>
            <a:off x="8330184" y="3474720"/>
            <a:ext cx="304495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Columns</a:t>
            </a:r>
            <a:endParaRPr lang="en-US" sz="1100" dirty="0"/>
          </a:p>
        </p:txBody>
      </p:sp>
      <p:sp>
        <p:nvSpPr>
          <p:cNvPr id="26" name="Text 24"/>
          <p:cNvSpPr txBox="1"/>
          <p:nvPr/>
        </p:nvSpPr>
        <p:spPr>
          <a:xfrm>
            <a:off x="8330184" y="3749040"/>
            <a:ext cx="3044952" cy="1965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25000"/>
              </a:lnSpc>
              <a:buNone/>
            </a:pPr>
            <a:r>
              <a:rPr lang="en-US" sz="105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RestaurantID, RestaurantName, City, Cuisine, Rating, CostForTwo, FoodType</a:t>
            </a:r>
            <a:endParaRPr lang="en-US" sz="1050" dirty="0"/>
          </a:p>
        </p:txBody>
      </p:sp>
      <p:sp>
        <p:nvSpPr>
          <p:cNvPr id="27" name="Text 25"/>
          <p:cNvSpPr txBox="1"/>
          <p:nvPr/>
        </p:nvSpPr>
        <p:spPr>
          <a:xfrm>
            <a:off x="548640" y="6035040"/>
            <a:ext cx="111556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Relationships:  Orders[CustomerID] → Customers[CustomerID]   ·   Orders[RestaurantID] → Restaurants[RestaurantID]   (one-to-many)</a:t>
            </a:r>
            <a:endParaRPr lang="en-US" sz="115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Order Analytics — Power BI Dashboard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03 — POWER QUERY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Cleaning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02920" cy="45720"/>
          </a:xfrm>
          <a:prstGeom prst="rect">
            <a:avLst/>
          </a:prstGeom>
          <a:solidFill>
            <a:srgbClr val="FC801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9659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AA260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965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7" name="Text 5"/>
          <p:cNvSpPr txBox="1"/>
          <p:nvPr/>
        </p:nvSpPr>
        <p:spPr>
          <a:xfrm>
            <a:off x="1005840" y="1911096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Remove duplicate OrderID rows in the Orders table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30632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AA26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3063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0" name="Text 8"/>
          <p:cNvSpPr txBox="1"/>
          <p:nvPr/>
        </p:nvSpPr>
        <p:spPr>
          <a:xfrm>
            <a:off x="1005840" y="3008376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Set correct data types: OrderDate → Date, OrderValue/DiscountAmount/DeliveryFee → Decimal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416052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AA26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4160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3" name="Text 11"/>
          <p:cNvSpPr txBox="1"/>
          <p:nvPr/>
        </p:nvSpPr>
        <p:spPr>
          <a:xfrm>
            <a:off x="1005840" y="4105656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Trim and clean text fields — CustomerName, RestaurantName, City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5257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AA260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5257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1005840" y="5202936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Standardize City spelling/casing across all three tables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6309360" y="196596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AA26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6309360" y="196596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19" name="Text 17"/>
          <p:cNvSpPr txBox="1"/>
          <p:nvPr/>
        </p:nvSpPr>
        <p:spPr>
          <a:xfrm>
            <a:off x="6766560" y="1911096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Handle blanks in DeliveryTimeMin and Rating using averages or null-aware measures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6309360" y="306324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AA260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6309360" y="306324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2" name="Text 20"/>
          <p:cNvSpPr txBox="1"/>
          <p:nvPr/>
        </p:nvSpPr>
        <p:spPr>
          <a:xfrm>
            <a:off x="6766560" y="3008376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 out OrderValue ≤ 0 as invalid transactions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6309360" y="416052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AA260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6309360" y="416052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5" name="Text 23"/>
          <p:cNvSpPr txBox="1"/>
          <p:nvPr/>
        </p:nvSpPr>
        <p:spPr>
          <a:xfrm>
            <a:off x="6766560" y="4105656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Merge OrderDate + OrderTime into a single DateTime column for time-based analysis</a:t>
            </a:r>
            <a:endParaRPr lang="en-US" sz="1300" dirty="0"/>
          </a:p>
        </p:txBody>
      </p:sp>
      <p:sp>
        <p:nvSpPr>
          <p:cNvPr id="26" name="Shape 24"/>
          <p:cNvSpPr/>
          <p:nvPr/>
        </p:nvSpPr>
        <p:spPr>
          <a:xfrm>
            <a:off x="6309360" y="5257800"/>
            <a:ext cx="292608" cy="292608"/>
          </a:xfrm>
          <a:prstGeom prst="roundRect">
            <a:avLst>
              <a:gd name="adj" fmla="val 18750"/>
            </a:avLst>
          </a:prstGeom>
          <a:solidFill>
            <a:srgbClr val="1AA26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309360" y="5257800"/>
            <a:ext cx="292608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✓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766560" y="5202936"/>
            <a:ext cx="50292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3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Validate keys — every CustomerID / RestaurantID in Orders exists in its dimension table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Order Analytics — Power BI Dashboard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04 — DATA MODELING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Calculated Columns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02920" cy="45720"/>
          </a:xfrm>
          <a:prstGeom prst="rect">
            <a:avLst/>
          </a:prstGeom>
          <a:solidFill>
            <a:srgbClr val="FC801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5440680" cy="1280160"/>
          </a:xfrm>
          <a:prstGeom prst="roundRect">
            <a:avLst>
              <a:gd name="adj" fmla="val 4286"/>
            </a:avLst>
          </a:prstGeom>
          <a:solidFill>
            <a:srgbClr val="F4F4F5"/>
          </a:solidFill>
          <a:ln w="12700">
            <a:solidFill>
              <a:srgbClr val="E4E4E6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1783080"/>
            <a:ext cx="82296" cy="1280160"/>
          </a:xfrm>
          <a:prstGeom prst="rect">
            <a:avLst/>
          </a:prstGeom>
          <a:solidFill>
            <a:srgbClr val="FC8019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822960" y="189280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</a:t>
            </a:r>
            <a:endParaRPr lang="en-US" sz="1400" dirty="0"/>
          </a:p>
        </p:txBody>
      </p:sp>
      <p:sp>
        <p:nvSpPr>
          <p:cNvPr id="8" name="Text 6"/>
          <p:cNvSpPr txBox="1"/>
          <p:nvPr/>
        </p:nvSpPr>
        <p:spPr>
          <a:xfrm>
            <a:off x="822960" y="228600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5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Orders[OrderValue] - Orders[DiscountAmount] + Orders[DeliveryFee]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6263640" y="1783080"/>
            <a:ext cx="5440680" cy="1280160"/>
          </a:xfrm>
          <a:prstGeom prst="roundRect">
            <a:avLst>
              <a:gd name="adj" fmla="val 4286"/>
            </a:avLst>
          </a:prstGeom>
          <a:solidFill>
            <a:srgbClr val="F4F4F5"/>
          </a:solidFill>
          <a:ln w="12700">
            <a:solidFill>
              <a:srgbClr val="E4E4E6"/>
            </a:solidFill>
            <a:prstDash val="solid"/>
          </a:ln>
        </p:spPr>
      </p:sp>
      <p:sp>
        <p:nvSpPr>
          <p:cNvPr id="10" name="Shape 8"/>
          <p:cNvSpPr/>
          <p:nvPr/>
        </p:nvSpPr>
        <p:spPr>
          <a:xfrm>
            <a:off x="6263640" y="1783080"/>
            <a:ext cx="82296" cy="1280160"/>
          </a:xfrm>
          <a:prstGeom prst="rect">
            <a:avLst/>
          </a:prstGeom>
          <a:solidFill>
            <a:srgbClr val="FC8019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537960" y="189280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Month</a:t>
            </a:r>
            <a:endParaRPr lang="en-US" sz="1400" dirty="0"/>
          </a:p>
        </p:txBody>
      </p:sp>
      <p:sp>
        <p:nvSpPr>
          <p:cNvPr id="12" name="Text 10"/>
          <p:cNvSpPr txBox="1"/>
          <p:nvPr/>
        </p:nvSpPr>
        <p:spPr>
          <a:xfrm>
            <a:off x="6537960" y="228600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5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FORMAT(Orders[OrderDate], "MMM YYYY")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548640" y="3291840"/>
            <a:ext cx="5440680" cy="1280160"/>
          </a:xfrm>
          <a:prstGeom prst="roundRect">
            <a:avLst>
              <a:gd name="adj" fmla="val 4286"/>
            </a:avLst>
          </a:prstGeom>
          <a:solidFill>
            <a:srgbClr val="F4F4F5"/>
          </a:solidFill>
          <a:ln w="12700">
            <a:solidFill>
              <a:srgbClr val="E4E4E6"/>
            </a:solidFill>
            <a:prstDash val="solid"/>
          </a:ln>
        </p:spPr>
      </p:sp>
      <p:sp>
        <p:nvSpPr>
          <p:cNvPr id="14" name="Shape 12"/>
          <p:cNvSpPr/>
          <p:nvPr/>
        </p:nvSpPr>
        <p:spPr>
          <a:xfrm>
            <a:off x="548640" y="3291840"/>
            <a:ext cx="82296" cy="1280160"/>
          </a:xfrm>
          <a:prstGeom prst="rect">
            <a:avLst/>
          </a:prstGeom>
          <a:solidFill>
            <a:srgbClr val="FC8019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822960" y="340156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 Speed</a:t>
            </a:r>
            <a:endParaRPr lang="en-US" sz="1400" dirty="0"/>
          </a:p>
        </p:txBody>
      </p:sp>
      <p:sp>
        <p:nvSpPr>
          <p:cNvPr id="16" name="Text 14"/>
          <p:cNvSpPr txBox="1"/>
          <p:nvPr/>
        </p:nvSpPr>
        <p:spPr>
          <a:xfrm>
            <a:off x="822960" y="379476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5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IF(Orders[DeliveryTimeMin] &lt;= 30, "Fast", "Slow")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6263640" y="3291840"/>
            <a:ext cx="5440680" cy="1280160"/>
          </a:xfrm>
          <a:prstGeom prst="roundRect">
            <a:avLst>
              <a:gd name="adj" fmla="val 4286"/>
            </a:avLst>
          </a:prstGeom>
          <a:solidFill>
            <a:srgbClr val="F4F4F5"/>
          </a:solidFill>
          <a:ln w="12700">
            <a:solidFill>
              <a:srgbClr val="E4E4E6"/>
            </a:solidFill>
            <a:prstDash val="solid"/>
          </a:ln>
        </p:spPr>
      </p:sp>
      <p:sp>
        <p:nvSpPr>
          <p:cNvPr id="18" name="Shape 16"/>
          <p:cNvSpPr/>
          <p:nvPr/>
        </p:nvSpPr>
        <p:spPr>
          <a:xfrm>
            <a:off x="6263640" y="3291840"/>
            <a:ext cx="82296" cy="1280160"/>
          </a:xfrm>
          <a:prstGeom prst="rect">
            <a:avLst/>
          </a:prstGeom>
          <a:solidFill>
            <a:srgbClr val="FC8019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6537960" y="340156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%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6537960" y="379476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5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DIVIDE(Orders[DiscountAmount], Orders[OrderValue], 0)</a:t>
            </a:r>
            <a:endParaRPr lang="en-US" sz="1100" dirty="0"/>
          </a:p>
        </p:txBody>
      </p:sp>
      <p:sp>
        <p:nvSpPr>
          <p:cNvPr id="21" name="Shape 19"/>
          <p:cNvSpPr/>
          <p:nvPr/>
        </p:nvSpPr>
        <p:spPr>
          <a:xfrm>
            <a:off x="548640" y="4800600"/>
            <a:ext cx="5440680" cy="1280160"/>
          </a:xfrm>
          <a:prstGeom prst="roundRect">
            <a:avLst>
              <a:gd name="adj" fmla="val 4286"/>
            </a:avLst>
          </a:prstGeom>
          <a:solidFill>
            <a:srgbClr val="F4F4F5"/>
          </a:solidFill>
          <a:ln w="12700">
            <a:solidFill>
              <a:srgbClr val="E4E4E6"/>
            </a:solidFill>
            <a:prstDash val="solid"/>
          </a:ln>
        </p:spPr>
      </p:sp>
      <p:sp>
        <p:nvSpPr>
          <p:cNvPr id="22" name="Shape 20"/>
          <p:cNvSpPr/>
          <p:nvPr/>
        </p:nvSpPr>
        <p:spPr>
          <a:xfrm>
            <a:off x="548640" y="4800600"/>
            <a:ext cx="82296" cy="1280160"/>
          </a:xfrm>
          <a:prstGeom prst="rect">
            <a:avLst/>
          </a:prstGeom>
          <a:solidFill>
            <a:srgbClr val="FC8019"/>
          </a:solidFill>
          <a:ln/>
        </p:spPr>
      </p:sp>
      <p:sp>
        <p:nvSpPr>
          <p:cNvPr id="23" name="Text 21"/>
          <p:cNvSpPr txBox="1"/>
          <p:nvPr/>
        </p:nvSpPr>
        <p:spPr>
          <a:xfrm>
            <a:off x="822960" y="491032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Age Group</a:t>
            </a:r>
            <a:endParaRPr lang="en-US" sz="1400" dirty="0"/>
          </a:p>
        </p:txBody>
      </p:sp>
      <p:sp>
        <p:nvSpPr>
          <p:cNvPr id="24" name="Text 22"/>
          <p:cNvSpPr txBox="1"/>
          <p:nvPr/>
        </p:nvSpPr>
        <p:spPr>
          <a:xfrm>
            <a:off x="822960" y="530352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5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SWITCH(TRUE(), Customers[Age] &lt; 25, "18-24", Customers[Age] &lt; 35, "25-34", Customers[Age] &lt; 45, "35-44", "45+")</a:t>
            </a:r>
            <a:endParaRPr lang="en-US" sz="1100" dirty="0"/>
          </a:p>
        </p:txBody>
      </p:sp>
      <p:sp>
        <p:nvSpPr>
          <p:cNvPr id="25" name="Shape 23"/>
          <p:cNvSpPr/>
          <p:nvPr/>
        </p:nvSpPr>
        <p:spPr>
          <a:xfrm>
            <a:off x="6263640" y="4800600"/>
            <a:ext cx="5440680" cy="1280160"/>
          </a:xfrm>
          <a:prstGeom prst="roundRect">
            <a:avLst>
              <a:gd name="adj" fmla="val 4286"/>
            </a:avLst>
          </a:prstGeom>
          <a:solidFill>
            <a:srgbClr val="F4F4F5"/>
          </a:solidFill>
          <a:ln w="12700">
            <a:solidFill>
              <a:srgbClr val="E4E4E6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6263640" y="4800600"/>
            <a:ext cx="82296" cy="1280160"/>
          </a:xfrm>
          <a:prstGeom prst="rect">
            <a:avLst/>
          </a:prstGeom>
          <a:solidFill>
            <a:srgbClr val="FC8019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6537960" y="4910328"/>
            <a:ext cx="49834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Day Type</a:t>
            </a:r>
            <a:endParaRPr lang="en-US" sz="1400" dirty="0"/>
          </a:p>
        </p:txBody>
      </p:sp>
      <p:sp>
        <p:nvSpPr>
          <p:cNvPr id="28" name="Text 26"/>
          <p:cNvSpPr txBox="1"/>
          <p:nvPr/>
        </p:nvSpPr>
        <p:spPr>
          <a:xfrm>
            <a:off x="6537960" y="5303520"/>
            <a:ext cx="4983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100" dirty="0">
                <a:solidFill>
                  <a:srgbClr val="5A5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IF(WEEKDAY(Orders[OrderDate], 2) &gt; 5, "Weekend", "Weekday")</a:t>
            </a:r>
            <a:endParaRPr lang="en-US" sz="1100" dirty="0"/>
          </a:p>
        </p:txBody>
      </p:sp>
      <p:sp>
        <p:nvSpPr>
          <p:cNvPr id="29" name="Text 27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Order Analytics — Power BI Dashboard</a:t>
            </a:r>
            <a:endParaRPr lang="en-US" sz="900" dirty="0"/>
          </a:p>
        </p:txBody>
      </p:sp>
      <p:sp>
        <p:nvSpPr>
          <p:cNvPr id="30" name="Text 28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05 — DATA MODELING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DAX Measures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02920" cy="45720"/>
          </a:xfrm>
          <a:prstGeom prst="rect">
            <a:avLst/>
          </a:prstGeom>
          <a:solidFill>
            <a:srgbClr val="FC801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783080"/>
            <a:ext cx="11064240" cy="457200"/>
          </a:xfrm>
          <a:prstGeom prst="rect">
            <a:avLst/>
          </a:prstGeom>
          <a:solidFill>
            <a:srgbClr val="2627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777240" y="1783080"/>
            <a:ext cx="3657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Measure</a:t>
            </a:r>
            <a:endParaRPr lang="en-US" sz="1300" dirty="0"/>
          </a:p>
        </p:txBody>
      </p:sp>
      <p:sp>
        <p:nvSpPr>
          <p:cNvPr id="7" name="Text 5"/>
          <p:cNvSpPr txBox="1"/>
          <p:nvPr/>
        </p:nvSpPr>
        <p:spPr>
          <a:xfrm>
            <a:off x="4480560" y="1783080"/>
            <a:ext cx="6949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DAX Formula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240280"/>
            <a:ext cx="11064240" cy="50292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777240" y="22402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50" dirty="0"/>
          </a:p>
        </p:txBody>
      </p:sp>
      <p:sp>
        <p:nvSpPr>
          <p:cNvPr id="10" name="Text 8"/>
          <p:cNvSpPr txBox="1"/>
          <p:nvPr/>
        </p:nvSpPr>
        <p:spPr>
          <a:xfrm>
            <a:off x="4480560" y="224028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SUM(Orders[Net Revenue])</a:t>
            </a:r>
            <a:endParaRPr lang="en-US" sz="1000" dirty="0"/>
          </a:p>
        </p:txBody>
      </p:sp>
      <p:sp>
        <p:nvSpPr>
          <p:cNvPr id="11" name="Text 9"/>
          <p:cNvSpPr txBox="1"/>
          <p:nvPr/>
        </p:nvSpPr>
        <p:spPr>
          <a:xfrm>
            <a:off x="777240" y="27432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50" dirty="0"/>
          </a:p>
        </p:txBody>
      </p:sp>
      <p:sp>
        <p:nvSpPr>
          <p:cNvPr id="12" name="Text 10"/>
          <p:cNvSpPr txBox="1"/>
          <p:nvPr/>
        </p:nvSpPr>
        <p:spPr>
          <a:xfrm>
            <a:off x="4480560" y="27432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COUNTROWS(Orders)</a:t>
            </a:r>
            <a:endParaRPr lang="en-US" sz="1000" dirty="0"/>
          </a:p>
        </p:txBody>
      </p:sp>
      <p:sp>
        <p:nvSpPr>
          <p:cNvPr id="13" name="Shape 11"/>
          <p:cNvSpPr/>
          <p:nvPr/>
        </p:nvSpPr>
        <p:spPr>
          <a:xfrm>
            <a:off x="548640" y="3246120"/>
            <a:ext cx="11064240" cy="50292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777240" y="32461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150" dirty="0"/>
          </a:p>
        </p:txBody>
      </p:sp>
      <p:sp>
        <p:nvSpPr>
          <p:cNvPr id="15" name="Text 13"/>
          <p:cNvSpPr txBox="1"/>
          <p:nvPr/>
        </p:nvSpPr>
        <p:spPr>
          <a:xfrm>
            <a:off x="4480560" y="324612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DIVIDE([Total Revenue],[Total Orders])</a:t>
            </a:r>
            <a:endParaRPr lang="en-US" sz="1000" dirty="0"/>
          </a:p>
        </p:txBody>
      </p:sp>
      <p:sp>
        <p:nvSpPr>
          <p:cNvPr id="16" name="Text 14"/>
          <p:cNvSpPr txBox="1"/>
          <p:nvPr/>
        </p:nvSpPr>
        <p:spPr>
          <a:xfrm>
            <a:off x="777240" y="374904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Delivery Time</a:t>
            </a:r>
            <a:endParaRPr lang="en-US" sz="1150" dirty="0"/>
          </a:p>
        </p:txBody>
      </p:sp>
      <p:sp>
        <p:nvSpPr>
          <p:cNvPr id="17" name="Text 15"/>
          <p:cNvSpPr txBox="1"/>
          <p:nvPr/>
        </p:nvSpPr>
        <p:spPr>
          <a:xfrm>
            <a:off x="4480560" y="374904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AVERAGE(Orders[DeliveryTimeMin])</a:t>
            </a:r>
            <a:endParaRPr lang="en-US" sz="1000" dirty="0"/>
          </a:p>
        </p:txBody>
      </p:sp>
      <p:sp>
        <p:nvSpPr>
          <p:cNvPr id="18" name="Shape 16"/>
          <p:cNvSpPr/>
          <p:nvPr/>
        </p:nvSpPr>
        <p:spPr>
          <a:xfrm>
            <a:off x="548640" y="4251960"/>
            <a:ext cx="11064240" cy="50292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19" name="Text 17"/>
          <p:cNvSpPr txBox="1"/>
          <p:nvPr/>
        </p:nvSpPr>
        <p:spPr>
          <a:xfrm>
            <a:off x="777240" y="425196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Rate</a:t>
            </a:r>
            <a:endParaRPr lang="en-US" sz="1150" dirty="0"/>
          </a:p>
        </p:txBody>
      </p:sp>
      <p:sp>
        <p:nvSpPr>
          <p:cNvPr id="20" name="Text 18"/>
          <p:cNvSpPr txBox="1"/>
          <p:nvPr/>
        </p:nvSpPr>
        <p:spPr>
          <a:xfrm>
            <a:off x="4480560" y="425196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DIVIDE(CALCULATE(COUNTROWS(Orders), Orders[OrderStatus]="Cancelled"),[Total Orders])</a:t>
            </a:r>
            <a:endParaRPr lang="en-US" sz="1000" dirty="0"/>
          </a:p>
        </p:txBody>
      </p:sp>
      <p:sp>
        <p:nvSpPr>
          <p:cNvPr id="21" name="Text 19"/>
          <p:cNvSpPr txBox="1"/>
          <p:nvPr/>
        </p:nvSpPr>
        <p:spPr>
          <a:xfrm>
            <a:off x="777240" y="475488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MoM Revenue Growth %</a:t>
            </a:r>
            <a:endParaRPr lang="en-US" sz="1150" dirty="0"/>
          </a:p>
        </p:txBody>
      </p:sp>
      <p:sp>
        <p:nvSpPr>
          <p:cNvPr id="22" name="Text 20"/>
          <p:cNvSpPr txBox="1"/>
          <p:nvPr/>
        </p:nvSpPr>
        <p:spPr>
          <a:xfrm>
            <a:off x="4480560" y="475488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DIVIDE([Total Revenue] - [Revenue LM],[Revenue LM])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548640" y="5257800"/>
            <a:ext cx="11064240" cy="502920"/>
          </a:xfrm>
          <a:prstGeom prst="rect">
            <a:avLst/>
          </a:prstGeom>
          <a:solidFill>
            <a:srgbClr val="F4F4F5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777240" y="525780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Active Restaurants</a:t>
            </a:r>
            <a:endParaRPr lang="en-US" sz="1150" dirty="0"/>
          </a:p>
        </p:txBody>
      </p:sp>
      <p:sp>
        <p:nvSpPr>
          <p:cNvPr id="25" name="Text 23"/>
          <p:cNvSpPr txBox="1"/>
          <p:nvPr/>
        </p:nvSpPr>
        <p:spPr>
          <a:xfrm>
            <a:off x="4480560" y="525780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DISTINCTCOUNT(Orders[RestaurantID])</a:t>
            </a:r>
            <a:endParaRPr lang="en-US" sz="1000" dirty="0"/>
          </a:p>
        </p:txBody>
      </p:sp>
      <p:sp>
        <p:nvSpPr>
          <p:cNvPr id="26" name="Text 24"/>
          <p:cNvSpPr txBox="1"/>
          <p:nvPr/>
        </p:nvSpPr>
        <p:spPr>
          <a:xfrm>
            <a:off x="777240" y="5760720"/>
            <a:ext cx="365760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Repeat Customers</a:t>
            </a:r>
            <a:endParaRPr lang="en-US" sz="1150" dirty="0"/>
          </a:p>
        </p:txBody>
      </p:sp>
      <p:sp>
        <p:nvSpPr>
          <p:cNvPr id="27" name="Text 25"/>
          <p:cNvSpPr txBox="1"/>
          <p:nvPr/>
        </p:nvSpPr>
        <p:spPr>
          <a:xfrm>
            <a:off x="4480560" y="5760720"/>
            <a:ext cx="69494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dirty="0">
                <a:solidFill>
                  <a:srgbClr val="5A5D63"/>
                </a:solidFill>
                <a:latin typeface="Courier New" pitchFamily="34" charset="0"/>
                <a:ea typeface="Courier New" pitchFamily="34" charset="-122"/>
                <a:cs typeface="Courier New" pitchFamily="34" charset="-120"/>
              </a:rPr>
              <a:t>CALCULATE(DISTINCTCOUNT(Orders[CustomerID]), Orders[OrderCount] &gt; 1)</a:t>
            </a:r>
            <a:endParaRPr lang="en-US" sz="1000" dirty="0"/>
          </a:p>
        </p:txBody>
      </p:sp>
      <p:sp>
        <p:nvSpPr>
          <p:cNvPr id="28" name="Text 26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Order Analytics — Power BI Dashboard</a:t>
            </a:r>
            <a:endParaRPr lang="en-US" sz="900" dirty="0"/>
          </a:p>
        </p:txBody>
      </p:sp>
      <p:sp>
        <p:nvSpPr>
          <p:cNvPr id="29" name="Text 27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06 — VISUALS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Chart Specifications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02920" cy="45720"/>
          </a:xfrm>
          <a:prstGeom prst="rect">
            <a:avLst/>
          </a:prstGeom>
          <a:solidFill>
            <a:srgbClr val="FC801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1874520" cy="548640"/>
          </a:xfrm>
          <a:prstGeom prst="roundRect">
            <a:avLst>
              <a:gd name="adj" fmla="val 13333"/>
            </a:avLst>
          </a:prstGeom>
          <a:solidFill>
            <a:srgbClr val="FC801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548640" y="182880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KPI CARD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2651760" y="182880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Revenue, Total Orders, Avg Order Value, Cancellation Rate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548640" y="2487168"/>
            <a:ext cx="1874520" cy="548640"/>
          </a:xfrm>
          <a:prstGeom prst="roundRect">
            <a:avLst>
              <a:gd name="adj" fmla="val 13333"/>
            </a:avLst>
          </a:prstGeom>
          <a:solidFill>
            <a:srgbClr val="1AA260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548640" y="248716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LINE</a:t>
            </a:r>
            <a:endParaRPr lang="en-US" sz="1100" dirty="0"/>
          </a:p>
        </p:txBody>
      </p:sp>
      <p:sp>
        <p:nvSpPr>
          <p:cNvPr id="10" name="Text 8"/>
          <p:cNvSpPr txBox="1"/>
          <p:nvPr/>
        </p:nvSpPr>
        <p:spPr>
          <a:xfrm>
            <a:off x="2651760" y="2487168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 Revenue by Order Month — revenue trend over time</a:t>
            </a:r>
            <a:endParaRPr lang="en-US" sz="1300" dirty="0"/>
          </a:p>
        </p:txBody>
      </p:sp>
      <p:sp>
        <p:nvSpPr>
          <p:cNvPr id="11" name="Shape 9"/>
          <p:cNvSpPr/>
          <p:nvPr/>
        </p:nvSpPr>
        <p:spPr>
          <a:xfrm>
            <a:off x="548640" y="3145536"/>
            <a:ext cx="1874520" cy="548640"/>
          </a:xfrm>
          <a:prstGeom prst="roundRect">
            <a:avLst>
              <a:gd name="adj" fmla="val 13333"/>
            </a:avLst>
          </a:prstGeom>
          <a:solidFill>
            <a:srgbClr val="FC801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548640" y="3145536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BAR</a:t>
            </a:r>
            <a:endParaRPr lang="en-US" sz="1100" dirty="0"/>
          </a:p>
        </p:txBody>
      </p:sp>
      <p:sp>
        <p:nvSpPr>
          <p:cNvPr id="13" name="Text 11"/>
          <p:cNvSpPr txBox="1"/>
          <p:nvPr/>
        </p:nvSpPr>
        <p:spPr>
          <a:xfrm>
            <a:off x="2651760" y="3145536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10 Restaurants by Net Revenue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548640" y="3803904"/>
            <a:ext cx="1874520" cy="548640"/>
          </a:xfrm>
          <a:prstGeom prst="roundRect">
            <a:avLst>
              <a:gd name="adj" fmla="val 13333"/>
            </a:avLst>
          </a:prstGeom>
          <a:solidFill>
            <a:srgbClr val="26272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548640" y="3803904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DONUT</a:t>
            </a:r>
            <a:endParaRPr lang="en-US" sz="1100" dirty="0"/>
          </a:p>
        </p:txBody>
      </p:sp>
      <p:sp>
        <p:nvSpPr>
          <p:cNvPr id="16" name="Text 14"/>
          <p:cNvSpPr txBox="1"/>
          <p:nvPr/>
        </p:nvSpPr>
        <p:spPr>
          <a:xfrm>
            <a:off x="2651760" y="3803904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share by Payment Method</a:t>
            </a:r>
            <a:endParaRPr lang="en-US" sz="1300" dirty="0"/>
          </a:p>
        </p:txBody>
      </p:sp>
      <p:sp>
        <p:nvSpPr>
          <p:cNvPr id="17" name="Shape 15"/>
          <p:cNvSpPr/>
          <p:nvPr/>
        </p:nvSpPr>
        <p:spPr>
          <a:xfrm>
            <a:off x="548640" y="4462272"/>
            <a:ext cx="1874520" cy="548640"/>
          </a:xfrm>
          <a:prstGeom prst="roundRect">
            <a:avLst>
              <a:gd name="adj" fmla="val 13333"/>
            </a:avLst>
          </a:prstGeom>
          <a:solidFill>
            <a:srgbClr val="1AA260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548640" y="4462272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MAP / BAR</a:t>
            </a:r>
            <a:endParaRPr lang="en-US" sz="1100" dirty="0"/>
          </a:p>
        </p:txBody>
      </p:sp>
      <p:sp>
        <p:nvSpPr>
          <p:cNvPr id="19" name="Text 17"/>
          <p:cNvSpPr txBox="1"/>
          <p:nvPr/>
        </p:nvSpPr>
        <p:spPr>
          <a:xfrm>
            <a:off x="2651760" y="4462272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and order count by City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548640" y="5120640"/>
            <a:ext cx="1874520" cy="548640"/>
          </a:xfrm>
          <a:prstGeom prst="roundRect">
            <a:avLst>
              <a:gd name="adj" fmla="val 13333"/>
            </a:avLst>
          </a:prstGeom>
          <a:solidFill>
            <a:srgbClr val="D64545"/>
          </a:solidFill>
          <a:ln/>
        </p:spPr>
      </p:sp>
      <p:sp>
        <p:nvSpPr>
          <p:cNvPr id="21" name="Text 19"/>
          <p:cNvSpPr txBox="1"/>
          <p:nvPr/>
        </p:nvSpPr>
        <p:spPr>
          <a:xfrm>
            <a:off x="548640" y="5120640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STACKED BAR</a:t>
            </a:r>
            <a:endParaRPr lang="en-US" sz="1100" dirty="0"/>
          </a:p>
        </p:txBody>
      </p:sp>
      <p:sp>
        <p:nvSpPr>
          <p:cNvPr id="22" name="Text 20"/>
          <p:cNvSpPr txBox="1"/>
          <p:nvPr/>
        </p:nvSpPr>
        <p:spPr>
          <a:xfrm>
            <a:off x="2651760" y="5120640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 split by Cuisine</a:t>
            </a:r>
            <a:endParaRPr lang="en-US" sz="1300" dirty="0"/>
          </a:p>
        </p:txBody>
      </p:sp>
      <p:sp>
        <p:nvSpPr>
          <p:cNvPr id="23" name="Shape 21"/>
          <p:cNvSpPr/>
          <p:nvPr/>
        </p:nvSpPr>
        <p:spPr>
          <a:xfrm>
            <a:off x="548640" y="5779008"/>
            <a:ext cx="1874520" cy="548640"/>
          </a:xfrm>
          <a:prstGeom prst="roundRect">
            <a:avLst>
              <a:gd name="adj" fmla="val 13333"/>
            </a:avLst>
          </a:prstGeom>
          <a:solidFill>
            <a:srgbClr val="FC801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548640" y="5779008"/>
            <a:ext cx="18745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SCATTER</a:t>
            </a:r>
            <a:endParaRPr lang="en-US" sz="1100" dirty="0"/>
          </a:p>
        </p:txBody>
      </p:sp>
      <p:sp>
        <p:nvSpPr>
          <p:cNvPr id="25" name="Text 23"/>
          <p:cNvSpPr txBox="1"/>
          <p:nvPr/>
        </p:nvSpPr>
        <p:spPr>
          <a:xfrm>
            <a:off x="2651760" y="5779008"/>
            <a:ext cx="89611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Restaurant Rating vs Avg Order Value, sized by order count</a:t>
            </a:r>
            <a:endParaRPr lang="en-US" sz="1300" dirty="0"/>
          </a:p>
        </p:txBody>
      </p:sp>
      <p:sp>
        <p:nvSpPr>
          <p:cNvPr id="26" name="Text 24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Order Analytics — Power BI Dashboard</a:t>
            </a:r>
            <a:endParaRPr lang="en-US" sz="900" dirty="0"/>
          </a:p>
        </p:txBody>
      </p:sp>
      <p:sp>
        <p:nvSpPr>
          <p:cNvPr id="27" name="Text 25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07 — DESIGN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Dashboard Layout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02920" cy="45720"/>
          </a:xfrm>
          <a:prstGeom prst="rect">
            <a:avLst/>
          </a:prstGeom>
          <a:solidFill>
            <a:srgbClr val="FC801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1920240" cy="4434840"/>
          </a:xfrm>
          <a:prstGeom prst="roundRect">
            <a:avLst>
              <a:gd name="adj" fmla="val 2857"/>
            </a:avLst>
          </a:prstGeom>
          <a:solidFill>
            <a:srgbClr val="26272B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685800" y="1965960"/>
            <a:ext cx="16459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spc="100" kern="0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FILTERS</a:t>
            </a:r>
            <a:endParaRPr lang="en-US" sz="1100" dirty="0"/>
          </a:p>
        </p:txBody>
      </p:sp>
      <p:sp>
        <p:nvSpPr>
          <p:cNvPr id="7" name="Text 5"/>
          <p:cNvSpPr txBox="1"/>
          <p:nvPr/>
        </p:nvSpPr>
        <p:spPr>
          <a:xfrm>
            <a:off x="685800" y="237744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</a:t>
            </a:r>
            <a:endParaRPr lang="en-US" sz="1050" dirty="0"/>
          </a:p>
        </p:txBody>
      </p:sp>
      <p:sp>
        <p:nvSpPr>
          <p:cNvPr id="8" name="Shape 6"/>
          <p:cNvSpPr/>
          <p:nvPr/>
        </p:nvSpPr>
        <p:spPr>
          <a:xfrm>
            <a:off x="685800" y="2331720"/>
            <a:ext cx="1645920" cy="18288"/>
          </a:xfrm>
          <a:prstGeom prst="rect">
            <a:avLst/>
          </a:prstGeom>
          <a:solidFill>
            <a:srgbClr val="45464B"/>
          </a:solidFill>
          <a:ln/>
        </p:spPr>
      </p:sp>
      <p:sp>
        <p:nvSpPr>
          <p:cNvPr id="9" name="Text 7"/>
          <p:cNvSpPr txBox="1"/>
          <p:nvPr/>
        </p:nvSpPr>
        <p:spPr>
          <a:xfrm>
            <a:off x="685800" y="315468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Cuisine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85800" y="3108960"/>
            <a:ext cx="1645920" cy="18288"/>
          </a:xfrm>
          <a:prstGeom prst="rect">
            <a:avLst/>
          </a:prstGeom>
          <a:solidFill>
            <a:srgbClr val="45464B"/>
          </a:solidFill>
          <a:ln/>
        </p:spPr>
      </p:sp>
      <p:sp>
        <p:nvSpPr>
          <p:cNvPr id="11" name="Text 9"/>
          <p:cNvSpPr txBox="1"/>
          <p:nvPr/>
        </p:nvSpPr>
        <p:spPr>
          <a:xfrm>
            <a:off x="685800" y="393192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Date Range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685800" y="3886200"/>
            <a:ext cx="1645920" cy="18288"/>
          </a:xfrm>
          <a:prstGeom prst="rect">
            <a:avLst/>
          </a:prstGeom>
          <a:solidFill>
            <a:srgbClr val="45464B"/>
          </a:solidFill>
          <a:ln/>
        </p:spPr>
      </p:sp>
      <p:sp>
        <p:nvSpPr>
          <p:cNvPr id="13" name="Text 11"/>
          <p:cNvSpPr txBox="1"/>
          <p:nvPr/>
        </p:nvSpPr>
        <p:spPr>
          <a:xfrm>
            <a:off x="685800" y="470916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Method</a:t>
            </a:r>
            <a:endParaRPr lang="en-US" sz="1050" dirty="0"/>
          </a:p>
        </p:txBody>
      </p:sp>
      <p:sp>
        <p:nvSpPr>
          <p:cNvPr id="14" name="Shape 12"/>
          <p:cNvSpPr/>
          <p:nvPr/>
        </p:nvSpPr>
        <p:spPr>
          <a:xfrm>
            <a:off x="685800" y="4663440"/>
            <a:ext cx="1645920" cy="18288"/>
          </a:xfrm>
          <a:prstGeom prst="rect">
            <a:avLst/>
          </a:prstGeom>
          <a:solidFill>
            <a:srgbClr val="45464B"/>
          </a:solidFill>
          <a:ln/>
        </p:spPr>
      </p:sp>
      <p:sp>
        <p:nvSpPr>
          <p:cNvPr id="15" name="Text 13"/>
          <p:cNvSpPr txBox="1"/>
          <p:nvPr/>
        </p:nvSpPr>
        <p:spPr>
          <a:xfrm>
            <a:off x="685800" y="5486400"/>
            <a:ext cx="1645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Order Status</a:t>
            </a:r>
            <a:endParaRPr lang="en-US" sz="1050" dirty="0"/>
          </a:p>
        </p:txBody>
      </p:sp>
      <p:sp>
        <p:nvSpPr>
          <p:cNvPr id="16" name="Shape 14"/>
          <p:cNvSpPr/>
          <p:nvPr/>
        </p:nvSpPr>
        <p:spPr>
          <a:xfrm>
            <a:off x="685800" y="5440680"/>
            <a:ext cx="1645920" cy="18288"/>
          </a:xfrm>
          <a:prstGeom prst="rect">
            <a:avLst/>
          </a:prstGeom>
          <a:solidFill>
            <a:srgbClr val="45464B"/>
          </a:solidFill>
          <a:ln/>
        </p:spPr>
      </p:sp>
      <p:sp>
        <p:nvSpPr>
          <p:cNvPr id="17" name="Shape 15"/>
          <p:cNvSpPr/>
          <p:nvPr/>
        </p:nvSpPr>
        <p:spPr>
          <a:xfrm>
            <a:off x="2651760" y="1828800"/>
            <a:ext cx="2034540" cy="777240"/>
          </a:xfrm>
          <a:prstGeom prst="roundRect">
            <a:avLst>
              <a:gd name="adj" fmla="val 7059"/>
            </a:avLst>
          </a:prstGeom>
          <a:solidFill>
            <a:srgbClr val="FC8019"/>
          </a:solidFill>
          <a:ln/>
        </p:spPr>
      </p:sp>
      <p:sp>
        <p:nvSpPr>
          <p:cNvPr id="18" name="Text 16"/>
          <p:cNvSpPr txBox="1"/>
          <p:nvPr/>
        </p:nvSpPr>
        <p:spPr>
          <a:xfrm>
            <a:off x="2651760" y="1828800"/>
            <a:ext cx="20345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Revenue</a:t>
            </a:r>
            <a:endParaRPr lang="en-US" sz="1150" dirty="0"/>
          </a:p>
        </p:txBody>
      </p:sp>
      <p:sp>
        <p:nvSpPr>
          <p:cNvPr id="19" name="Shape 17"/>
          <p:cNvSpPr/>
          <p:nvPr/>
        </p:nvSpPr>
        <p:spPr>
          <a:xfrm>
            <a:off x="4960620" y="1828800"/>
            <a:ext cx="2034540" cy="777240"/>
          </a:xfrm>
          <a:prstGeom prst="roundRect">
            <a:avLst>
              <a:gd name="adj" fmla="val 7059"/>
            </a:avLst>
          </a:prstGeom>
          <a:solidFill>
            <a:srgbClr val="FC8019"/>
          </a:solidFill>
          <a:ln/>
        </p:spPr>
      </p:sp>
      <p:sp>
        <p:nvSpPr>
          <p:cNvPr id="20" name="Text 18"/>
          <p:cNvSpPr txBox="1"/>
          <p:nvPr/>
        </p:nvSpPr>
        <p:spPr>
          <a:xfrm>
            <a:off x="4960620" y="1828800"/>
            <a:ext cx="20345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Orders</a:t>
            </a:r>
            <a:endParaRPr lang="en-US" sz="1150" dirty="0"/>
          </a:p>
        </p:txBody>
      </p:sp>
      <p:sp>
        <p:nvSpPr>
          <p:cNvPr id="21" name="Shape 19"/>
          <p:cNvSpPr/>
          <p:nvPr/>
        </p:nvSpPr>
        <p:spPr>
          <a:xfrm>
            <a:off x="7269480" y="1828800"/>
            <a:ext cx="2034540" cy="777240"/>
          </a:xfrm>
          <a:prstGeom prst="roundRect">
            <a:avLst>
              <a:gd name="adj" fmla="val 7059"/>
            </a:avLst>
          </a:prstGeom>
          <a:solidFill>
            <a:srgbClr val="FC8019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7269480" y="1828800"/>
            <a:ext cx="20345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Avg Order Value</a:t>
            </a:r>
            <a:endParaRPr lang="en-US" sz="1150" dirty="0"/>
          </a:p>
        </p:txBody>
      </p:sp>
      <p:sp>
        <p:nvSpPr>
          <p:cNvPr id="23" name="Shape 21"/>
          <p:cNvSpPr/>
          <p:nvPr/>
        </p:nvSpPr>
        <p:spPr>
          <a:xfrm>
            <a:off x="9578340" y="1828800"/>
            <a:ext cx="2034540" cy="777240"/>
          </a:xfrm>
          <a:prstGeom prst="roundRect">
            <a:avLst>
              <a:gd name="adj" fmla="val 7059"/>
            </a:avLst>
          </a:prstGeom>
          <a:solidFill>
            <a:srgbClr val="FC8019"/>
          </a:solidFill>
          <a:ln/>
        </p:spPr>
      </p:sp>
      <p:sp>
        <p:nvSpPr>
          <p:cNvPr id="24" name="Text 22"/>
          <p:cNvSpPr txBox="1"/>
          <p:nvPr/>
        </p:nvSpPr>
        <p:spPr>
          <a:xfrm>
            <a:off x="9578340" y="1828800"/>
            <a:ext cx="20345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%</a:t>
            </a:r>
            <a:endParaRPr lang="en-US" sz="1150" dirty="0"/>
          </a:p>
        </p:txBody>
      </p:sp>
      <p:sp>
        <p:nvSpPr>
          <p:cNvPr id="25" name="Shape 23"/>
          <p:cNvSpPr/>
          <p:nvPr/>
        </p:nvSpPr>
        <p:spPr>
          <a:xfrm>
            <a:off x="2651760" y="2788920"/>
            <a:ext cx="5555894" cy="1691640"/>
          </a:xfrm>
          <a:prstGeom prst="roundRect">
            <a:avLst>
              <a:gd name="adj" fmla="val 3243"/>
            </a:avLst>
          </a:prstGeom>
          <a:solidFill>
            <a:srgbClr val="F4F4F5"/>
          </a:solidFill>
          <a:ln w="12700">
            <a:solidFill>
              <a:srgbClr val="E4E4E6"/>
            </a:solidFill>
            <a:prstDash val="solid"/>
          </a:ln>
        </p:spPr>
      </p:sp>
      <p:sp>
        <p:nvSpPr>
          <p:cNvPr id="26" name="Text 24"/>
          <p:cNvSpPr txBox="1"/>
          <p:nvPr/>
        </p:nvSpPr>
        <p:spPr>
          <a:xfrm>
            <a:off x="2834640" y="2880360"/>
            <a:ext cx="5190134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Revenue Trend (Line)</a:t>
            </a:r>
            <a:endParaRPr lang="en-US" sz="1100" dirty="0"/>
          </a:p>
        </p:txBody>
      </p:sp>
      <p:sp>
        <p:nvSpPr>
          <p:cNvPr id="27" name="Shape 25"/>
          <p:cNvSpPr/>
          <p:nvPr/>
        </p:nvSpPr>
        <p:spPr>
          <a:xfrm>
            <a:off x="8481974" y="2788920"/>
            <a:ext cx="3130906" cy="1691640"/>
          </a:xfrm>
          <a:prstGeom prst="roundRect">
            <a:avLst>
              <a:gd name="adj" fmla="val 3243"/>
            </a:avLst>
          </a:prstGeom>
          <a:solidFill>
            <a:srgbClr val="F4F4F5"/>
          </a:solidFill>
          <a:ln w="12700">
            <a:solidFill>
              <a:srgbClr val="E4E4E6"/>
            </a:solidFill>
            <a:prstDash val="solid"/>
          </a:ln>
        </p:spPr>
      </p:sp>
      <p:sp>
        <p:nvSpPr>
          <p:cNvPr id="28" name="Text 26"/>
          <p:cNvSpPr txBox="1"/>
          <p:nvPr/>
        </p:nvSpPr>
        <p:spPr>
          <a:xfrm>
            <a:off x="8664854" y="2880360"/>
            <a:ext cx="276514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b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Payment Split (Donut)</a:t>
            </a:r>
            <a:endParaRPr lang="en-US" sz="1100" dirty="0"/>
          </a:p>
        </p:txBody>
      </p:sp>
      <p:sp>
        <p:nvSpPr>
          <p:cNvPr id="29" name="Shape 27"/>
          <p:cNvSpPr/>
          <p:nvPr/>
        </p:nvSpPr>
        <p:spPr>
          <a:xfrm>
            <a:off x="2651760" y="4754880"/>
            <a:ext cx="2804160" cy="1508760"/>
          </a:xfrm>
          <a:prstGeom prst="roundRect">
            <a:avLst>
              <a:gd name="adj" fmla="val 3636"/>
            </a:avLst>
          </a:prstGeom>
          <a:solidFill>
            <a:srgbClr val="F4F4F5"/>
          </a:solidFill>
          <a:ln w="12700">
            <a:solidFill>
              <a:srgbClr val="E4E4E6"/>
            </a:solidFill>
            <a:prstDash val="solid"/>
          </a:ln>
        </p:spPr>
      </p:sp>
      <p:sp>
        <p:nvSpPr>
          <p:cNvPr id="30" name="Text 28"/>
          <p:cNvSpPr txBox="1"/>
          <p:nvPr/>
        </p:nvSpPr>
        <p:spPr>
          <a:xfrm>
            <a:off x="2788920" y="4846320"/>
            <a:ext cx="252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Restaurants (Bar)</a:t>
            </a:r>
            <a:endParaRPr lang="en-US" sz="1050" dirty="0"/>
          </a:p>
        </p:txBody>
      </p:sp>
      <p:sp>
        <p:nvSpPr>
          <p:cNvPr id="31" name="Shape 29"/>
          <p:cNvSpPr/>
          <p:nvPr/>
        </p:nvSpPr>
        <p:spPr>
          <a:xfrm>
            <a:off x="5730240" y="4754880"/>
            <a:ext cx="2804160" cy="1508760"/>
          </a:xfrm>
          <a:prstGeom prst="roundRect">
            <a:avLst>
              <a:gd name="adj" fmla="val 3636"/>
            </a:avLst>
          </a:prstGeom>
          <a:solidFill>
            <a:srgbClr val="F4F4F5"/>
          </a:solidFill>
          <a:ln w="12700">
            <a:solidFill>
              <a:srgbClr val="E4E4E6"/>
            </a:solidFill>
            <a:prstDash val="solid"/>
          </a:ln>
        </p:spPr>
      </p:sp>
      <p:sp>
        <p:nvSpPr>
          <p:cNvPr id="32" name="Text 30"/>
          <p:cNvSpPr txBox="1"/>
          <p:nvPr/>
        </p:nvSpPr>
        <p:spPr>
          <a:xfrm>
            <a:off x="5867400" y="4846320"/>
            <a:ext cx="252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by Cuisine (Stacked)</a:t>
            </a:r>
            <a:endParaRPr lang="en-US" sz="1050" dirty="0"/>
          </a:p>
        </p:txBody>
      </p:sp>
      <p:sp>
        <p:nvSpPr>
          <p:cNvPr id="33" name="Shape 31"/>
          <p:cNvSpPr/>
          <p:nvPr/>
        </p:nvSpPr>
        <p:spPr>
          <a:xfrm>
            <a:off x="8808720" y="4754880"/>
            <a:ext cx="2804160" cy="1508760"/>
          </a:xfrm>
          <a:prstGeom prst="roundRect">
            <a:avLst>
              <a:gd name="adj" fmla="val 3636"/>
            </a:avLst>
          </a:prstGeom>
          <a:solidFill>
            <a:srgbClr val="F4F4F5"/>
          </a:solidFill>
          <a:ln w="12700">
            <a:solidFill>
              <a:srgbClr val="E4E4E6"/>
            </a:solidFill>
            <a:prstDash val="solid"/>
          </a:ln>
        </p:spPr>
      </p:sp>
      <p:sp>
        <p:nvSpPr>
          <p:cNvPr id="34" name="Text 32"/>
          <p:cNvSpPr txBox="1"/>
          <p:nvPr/>
        </p:nvSpPr>
        <p:spPr>
          <a:xfrm>
            <a:off x="8945880" y="4846320"/>
            <a:ext cx="25298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050" b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Rating vs AOV (Scatter)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Order Analytics — Power BI Dashboard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548640" y="320040"/>
            <a:ext cx="73152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1200" b="1" spc="200" kern="0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08 — IMPACT</a:t>
            </a:r>
            <a:endParaRPr lang="en-US" sz="1200" dirty="0"/>
          </a:p>
        </p:txBody>
      </p:sp>
      <p:sp>
        <p:nvSpPr>
          <p:cNvPr id="3" name="Text 1"/>
          <p:cNvSpPr txBox="1"/>
          <p:nvPr/>
        </p:nvSpPr>
        <p:spPr>
          <a:xfrm>
            <a:off x="548640" y="621792"/>
            <a:ext cx="10972800" cy="6400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26272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Business Insights the Dashboard Enables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298448"/>
            <a:ext cx="502920" cy="45720"/>
          </a:xfrm>
          <a:prstGeom prst="rect">
            <a:avLst/>
          </a:prstGeom>
          <a:solidFill>
            <a:srgbClr val="FC8019"/>
          </a:solidFill>
          <a:ln/>
        </p:spPr>
      </p:sp>
      <p:sp>
        <p:nvSpPr>
          <p:cNvPr id="5" name="Shape 3"/>
          <p:cNvSpPr/>
          <p:nvPr/>
        </p:nvSpPr>
        <p:spPr>
          <a:xfrm>
            <a:off x="548640" y="182880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</p:spPr>
      </p:sp>
      <p:sp>
        <p:nvSpPr>
          <p:cNvPr id="6" name="Shape 4"/>
          <p:cNvSpPr/>
          <p:nvPr/>
        </p:nvSpPr>
        <p:spPr>
          <a:xfrm>
            <a:off x="749808" y="2029968"/>
            <a:ext cx="502920" cy="502920"/>
          </a:xfrm>
          <a:prstGeom prst="ellipse">
            <a:avLst/>
          </a:prstGeom>
          <a:solidFill>
            <a:srgbClr val="1AA260"/>
          </a:solidFill>
          <a:ln/>
        </p:spPr>
      </p:sp>
      <p:sp>
        <p:nvSpPr>
          <p:cNvPr id="7" name="Text 5"/>
          <p:cNvSpPr txBox="1"/>
          <p:nvPr/>
        </p:nvSpPr>
        <p:spPr>
          <a:xfrm>
            <a:off x="749808" y="2029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⏱</a:t>
            </a:r>
            <a:endParaRPr lang="en-US" sz="1430" dirty="0"/>
          </a:p>
        </p:txBody>
      </p:sp>
      <p:sp>
        <p:nvSpPr>
          <p:cNvPr id="8" name="Text 6"/>
          <p:cNvSpPr txBox="1"/>
          <p:nvPr/>
        </p:nvSpPr>
        <p:spPr>
          <a:xfrm>
            <a:off x="1417320" y="19659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Peak ordering hours &amp; days</a:t>
            </a:r>
            <a:endParaRPr lang="en-US" sz="1300" dirty="0"/>
          </a:p>
        </p:txBody>
      </p:sp>
      <p:sp>
        <p:nvSpPr>
          <p:cNvPr id="9" name="Text 7"/>
          <p:cNvSpPr txBox="1"/>
          <p:nvPr/>
        </p:nvSpPr>
        <p:spPr>
          <a:xfrm>
            <a:off x="1417320" y="233172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Spot demand windows to plan staffing and delivery-partner allocation.</a:t>
            </a:r>
            <a:endParaRPr lang="en-US" sz="1050" dirty="0"/>
          </a:p>
        </p:txBody>
      </p:sp>
      <p:sp>
        <p:nvSpPr>
          <p:cNvPr id="10" name="Shape 8"/>
          <p:cNvSpPr/>
          <p:nvPr/>
        </p:nvSpPr>
        <p:spPr>
          <a:xfrm>
            <a:off x="6263640" y="182880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</p:spPr>
      </p:sp>
      <p:sp>
        <p:nvSpPr>
          <p:cNvPr id="11" name="Shape 9"/>
          <p:cNvSpPr/>
          <p:nvPr/>
        </p:nvSpPr>
        <p:spPr>
          <a:xfrm>
            <a:off x="6464808" y="2029968"/>
            <a:ext cx="502920" cy="502920"/>
          </a:xfrm>
          <a:prstGeom prst="ellipse">
            <a:avLst/>
          </a:prstGeom>
          <a:solidFill>
            <a:srgbClr val="1AA260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6464808" y="202996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🍽</a:t>
            </a:r>
            <a:endParaRPr lang="en-US" sz="1430" dirty="0"/>
          </a:p>
        </p:txBody>
      </p:sp>
      <p:sp>
        <p:nvSpPr>
          <p:cNvPr id="13" name="Text 11"/>
          <p:cNvSpPr txBox="1"/>
          <p:nvPr/>
        </p:nvSpPr>
        <p:spPr>
          <a:xfrm>
            <a:off x="7132320" y="196596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 cuisines &amp; restaurants</a:t>
            </a:r>
            <a:endParaRPr lang="en-US" sz="1300" dirty="0"/>
          </a:p>
        </p:txBody>
      </p:sp>
      <p:sp>
        <p:nvSpPr>
          <p:cNvPr id="14" name="Text 12"/>
          <p:cNvSpPr txBox="1"/>
          <p:nvPr/>
        </p:nvSpPr>
        <p:spPr>
          <a:xfrm>
            <a:off x="7132320" y="233172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Identify revenue-driving cuisines and partners worth promoting.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548640" y="347472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</p:spPr>
      </p:sp>
      <p:sp>
        <p:nvSpPr>
          <p:cNvPr id="16" name="Shape 14"/>
          <p:cNvSpPr/>
          <p:nvPr/>
        </p:nvSpPr>
        <p:spPr>
          <a:xfrm>
            <a:off x="749808" y="3675888"/>
            <a:ext cx="502920" cy="502920"/>
          </a:xfrm>
          <a:prstGeom prst="ellipse">
            <a:avLst/>
          </a:prstGeom>
          <a:solidFill>
            <a:srgbClr val="1AA260"/>
          </a:solidFill>
          <a:ln/>
        </p:spPr>
      </p:sp>
      <p:sp>
        <p:nvSpPr>
          <p:cNvPr id="17" name="Text 15"/>
          <p:cNvSpPr txBox="1"/>
          <p:nvPr/>
        </p:nvSpPr>
        <p:spPr>
          <a:xfrm>
            <a:off x="749808" y="3675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🏙</a:t>
            </a:r>
            <a:endParaRPr lang="en-US" sz="1430" dirty="0"/>
          </a:p>
        </p:txBody>
      </p:sp>
      <p:sp>
        <p:nvSpPr>
          <p:cNvPr id="18" name="Text 16"/>
          <p:cNvSpPr txBox="1"/>
          <p:nvPr/>
        </p:nvSpPr>
        <p:spPr>
          <a:xfrm>
            <a:off x="1417320" y="36118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City-wise performance</a:t>
            </a:r>
            <a:endParaRPr lang="en-US" sz="1300" dirty="0"/>
          </a:p>
        </p:txBody>
      </p:sp>
      <p:sp>
        <p:nvSpPr>
          <p:cNvPr id="19" name="Text 17"/>
          <p:cNvSpPr txBox="1"/>
          <p:nvPr/>
        </p:nvSpPr>
        <p:spPr>
          <a:xfrm>
            <a:off x="1417320" y="397764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Compare revenue and order volume across cities to guide expansion.</a:t>
            </a:r>
            <a:endParaRPr lang="en-US" sz="1050" dirty="0"/>
          </a:p>
        </p:txBody>
      </p:sp>
      <p:sp>
        <p:nvSpPr>
          <p:cNvPr id="20" name="Shape 18"/>
          <p:cNvSpPr/>
          <p:nvPr/>
        </p:nvSpPr>
        <p:spPr>
          <a:xfrm>
            <a:off x="6263640" y="347472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</p:spPr>
      </p:sp>
      <p:sp>
        <p:nvSpPr>
          <p:cNvPr id="21" name="Shape 19"/>
          <p:cNvSpPr/>
          <p:nvPr/>
        </p:nvSpPr>
        <p:spPr>
          <a:xfrm>
            <a:off x="6464808" y="3675888"/>
            <a:ext cx="502920" cy="502920"/>
          </a:xfrm>
          <a:prstGeom prst="ellipse">
            <a:avLst/>
          </a:prstGeom>
          <a:solidFill>
            <a:srgbClr val="1AA260"/>
          </a:solidFill>
          <a:ln/>
        </p:spPr>
      </p:sp>
      <p:sp>
        <p:nvSpPr>
          <p:cNvPr id="22" name="Text 20"/>
          <p:cNvSpPr txBox="1"/>
          <p:nvPr/>
        </p:nvSpPr>
        <p:spPr>
          <a:xfrm>
            <a:off x="6464808" y="367588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💸</a:t>
            </a:r>
            <a:endParaRPr lang="en-US" sz="1430" dirty="0"/>
          </a:p>
        </p:txBody>
      </p:sp>
      <p:sp>
        <p:nvSpPr>
          <p:cNvPr id="23" name="Text 21"/>
          <p:cNvSpPr txBox="1"/>
          <p:nvPr/>
        </p:nvSpPr>
        <p:spPr>
          <a:xfrm>
            <a:off x="7132320" y="361188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Discount effectiveness</a:t>
            </a:r>
            <a:endParaRPr lang="en-US" sz="1300" dirty="0"/>
          </a:p>
        </p:txBody>
      </p:sp>
      <p:sp>
        <p:nvSpPr>
          <p:cNvPr id="24" name="Text 22"/>
          <p:cNvSpPr txBox="1"/>
          <p:nvPr/>
        </p:nvSpPr>
        <p:spPr>
          <a:xfrm>
            <a:off x="7132320" y="397764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See how discount % relates to order value and repeat ordering.</a:t>
            </a:r>
            <a:endParaRPr lang="en-US" sz="1050" dirty="0"/>
          </a:p>
        </p:txBody>
      </p:sp>
      <p:sp>
        <p:nvSpPr>
          <p:cNvPr id="25" name="Shape 23"/>
          <p:cNvSpPr/>
          <p:nvPr/>
        </p:nvSpPr>
        <p:spPr>
          <a:xfrm>
            <a:off x="548640" y="512064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</p:spPr>
      </p:sp>
      <p:sp>
        <p:nvSpPr>
          <p:cNvPr id="26" name="Shape 24"/>
          <p:cNvSpPr/>
          <p:nvPr/>
        </p:nvSpPr>
        <p:spPr>
          <a:xfrm>
            <a:off x="749808" y="5321808"/>
            <a:ext cx="502920" cy="502920"/>
          </a:xfrm>
          <a:prstGeom prst="ellipse">
            <a:avLst/>
          </a:prstGeom>
          <a:solidFill>
            <a:srgbClr val="1AA260"/>
          </a:solidFill>
          <a:ln/>
        </p:spPr>
      </p:sp>
      <p:sp>
        <p:nvSpPr>
          <p:cNvPr id="27" name="Text 25"/>
          <p:cNvSpPr txBox="1"/>
          <p:nvPr/>
        </p:nvSpPr>
        <p:spPr>
          <a:xfrm>
            <a:off x="749808" y="5321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🚫</a:t>
            </a:r>
            <a:endParaRPr lang="en-US" sz="1430" dirty="0"/>
          </a:p>
        </p:txBody>
      </p:sp>
      <p:sp>
        <p:nvSpPr>
          <p:cNvPr id="28" name="Text 26"/>
          <p:cNvSpPr txBox="1"/>
          <p:nvPr/>
        </p:nvSpPr>
        <p:spPr>
          <a:xfrm>
            <a:off x="1417320" y="52578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Cancellation drivers</a:t>
            </a:r>
            <a:endParaRPr lang="en-US" sz="1300" dirty="0"/>
          </a:p>
        </p:txBody>
      </p:sp>
      <p:sp>
        <p:nvSpPr>
          <p:cNvPr id="29" name="Text 27"/>
          <p:cNvSpPr txBox="1"/>
          <p:nvPr/>
        </p:nvSpPr>
        <p:spPr>
          <a:xfrm>
            <a:off x="1417320" y="562356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Flag restaurants or cities with high cancellation rates for action.</a:t>
            </a:r>
            <a:endParaRPr lang="en-US" sz="1050" dirty="0"/>
          </a:p>
        </p:txBody>
      </p:sp>
      <p:sp>
        <p:nvSpPr>
          <p:cNvPr id="30" name="Shape 28"/>
          <p:cNvSpPr/>
          <p:nvPr/>
        </p:nvSpPr>
        <p:spPr>
          <a:xfrm>
            <a:off x="6263640" y="5120640"/>
            <a:ext cx="5440680" cy="1371600"/>
          </a:xfrm>
          <a:prstGeom prst="roundRect">
            <a:avLst>
              <a:gd name="adj" fmla="val 5333"/>
            </a:avLst>
          </a:prstGeom>
          <a:solidFill>
            <a:srgbClr val="F4F4F5"/>
          </a:solidFill>
          <a:ln/>
        </p:spPr>
      </p:sp>
      <p:sp>
        <p:nvSpPr>
          <p:cNvPr id="31" name="Shape 29"/>
          <p:cNvSpPr/>
          <p:nvPr/>
        </p:nvSpPr>
        <p:spPr>
          <a:xfrm>
            <a:off x="6464808" y="5321808"/>
            <a:ext cx="502920" cy="502920"/>
          </a:xfrm>
          <a:prstGeom prst="ellipse">
            <a:avLst/>
          </a:prstGeom>
          <a:solidFill>
            <a:srgbClr val="1AA260"/>
          </a:solidFill>
          <a:ln/>
        </p:spPr>
      </p:sp>
      <p:sp>
        <p:nvSpPr>
          <p:cNvPr id="32" name="Text 30"/>
          <p:cNvSpPr txBox="1"/>
          <p:nvPr/>
        </p:nvSpPr>
        <p:spPr>
          <a:xfrm>
            <a:off x="6464808" y="5321808"/>
            <a:ext cx="5029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3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👥</a:t>
            </a:r>
            <a:endParaRPr lang="en-US" sz="1430" dirty="0"/>
          </a:p>
        </p:txBody>
      </p:sp>
      <p:sp>
        <p:nvSpPr>
          <p:cNvPr id="33" name="Text 31"/>
          <p:cNvSpPr txBox="1"/>
          <p:nvPr/>
        </p:nvSpPr>
        <p:spPr>
          <a:xfrm>
            <a:off x="7132320" y="5257800"/>
            <a:ext cx="43891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26272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Customer segments</a:t>
            </a:r>
            <a:endParaRPr lang="en-US" sz="1300" dirty="0"/>
          </a:p>
        </p:txBody>
      </p:sp>
      <p:sp>
        <p:nvSpPr>
          <p:cNvPr id="34" name="Text 32"/>
          <p:cNvSpPr txBox="1"/>
          <p:nvPr/>
        </p:nvSpPr>
        <p:spPr>
          <a:xfrm>
            <a:off x="7132320" y="5623560"/>
            <a:ext cx="438912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5000"/>
              </a:lnSpc>
              <a:buNone/>
            </a:pPr>
            <a:r>
              <a:rPr lang="en-US" sz="1050" dirty="0">
                <a:solidFill>
                  <a:srgbClr val="5A5D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Understand ordering patterns by age group and city for targeting.</a:t>
            </a:r>
            <a:endParaRPr lang="en-US" sz="1050" dirty="0"/>
          </a:p>
        </p:txBody>
      </p:sp>
      <p:sp>
        <p:nvSpPr>
          <p:cNvPr id="35" name="Text 33"/>
          <p:cNvSpPr txBox="1"/>
          <p:nvPr/>
        </p:nvSpPr>
        <p:spPr>
          <a:xfrm>
            <a:off x="548640" y="6537960"/>
            <a:ext cx="7315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Swiggy Order Analytics — Power BI Dashboard</a:t>
            </a:r>
            <a:endParaRPr lang="en-US" sz="900" dirty="0"/>
          </a:p>
        </p:txBody>
      </p:sp>
      <p:sp>
        <p:nvSpPr>
          <p:cNvPr id="36" name="Text 34"/>
          <p:cNvSpPr txBox="1"/>
          <p:nvPr/>
        </p:nvSpPr>
        <p:spPr>
          <a:xfrm>
            <a:off x="11430000" y="6537960"/>
            <a:ext cx="4572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8A8D9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26272B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1828800" y="4114800"/>
            <a:ext cx="5486400" cy="5486400"/>
          </a:xfrm>
          <a:prstGeom prst="ellipse">
            <a:avLst/>
          </a:prstGeom>
          <a:solidFill>
            <a:srgbClr val="FC8019">
              <a:alpha val="10000"/>
            </a:srgbClr>
          </a:solidFill>
          <a:ln/>
        </p:spPr>
      </p:sp>
      <p:sp>
        <p:nvSpPr>
          <p:cNvPr id="3" name="Text 1"/>
          <p:cNvSpPr txBox="1"/>
          <p:nvPr/>
        </p:nvSpPr>
        <p:spPr>
          <a:xfrm>
            <a:off x="640080" y="50292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FC801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SUMMARY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640080" y="822960"/>
            <a:ext cx="10515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From raw data to a decision-ready dashboard</a:t>
            </a:r>
            <a:endParaRPr lang="en-US" sz="2800" dirty="0"/>
          </a:p>
        </p:txBody>
      </p:sp>
      <p:sp>
        <p:nvSpPr>
          <p:cNvPr id="5" name="Shape 3"/>
          <p:cNvSpPr/>
          <p:nvPr/>
        </p:nvSpPr>
        <p:spPr>
          <a:xfrm>
            <a:off x="685800" y="1764792"/>
            <a:ext cx="109728" cy="109728"/>
          </a:xfrm>
          <a:prstGeom prst="ellipse">
            <a:avLst/>
          </a:prstGeom>
          <a:solidFill>
            <a:srgbClr val="FC8019"/>
          </a:solidFill>
          <a:ln/>
        </p:spPr>
      </p:sp>
      <p:sp>
        <p:nvSpPr>
          <p:cNvPr id="6" name="Text 4"/>
          <p:cNvSpPr txBox="1"/>
          <p:nvPr/>
        </p:nvSpPr>
        <p:spPr>
          <a:xfrm>
            <a:off x="960120" y="161848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3E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Star-schema model: Orders (fact, 8,000 rows) linked to Customers and Restaurants dimensions.</a:t>
            </a:r>
            <a:endParaRPr lang="en-US" sz="1350" dirty="0"/>
          </a:p>
        </p:txBody>
      </p:sp>
      <p:sp>
        <p:nvSpPr>
          <p:cNvPr id="7" name="Shape 5"/>
          <p:cNvSpPr/>
          <p:nvPr/>
        </p:nvSpPr>
        <p:spPr>
          <a:xfrm>
            <a:off x="685800" y="2450592"/>
            <a:ext cx="109728" cy="109728"/>
          </a:xfrm>
          <a:prstGeom prst="ellipse">
            <a:avLst/>
          </a:prstGeom>
          <a:solidFill>
            <a:srgbClr val="FC8019"/>
          </a:solidFill>
          <a:ln/>
        </p:spPr>
      </p:sp>
      <p:sp>
        <p:nvSpPr>
          <p:cNvPr id="8" name="Text 6"/>
          <p:cNvSpPr txBox="1"/>
          <p:nvPr/>
        </p:nvSpPr>
        <p:spPr>
          <a:xfrm>
            <a:off x="960120" y="230428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3E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Cleaned data with correct types, standardized text, merged date-time, and validated keys.</a:t>
            </a:r>
            <a:endParaRPr lang="en-US" sz="1350" dirty="0"/>
          </a:p>
        </p:txBody>
      </p:sp>
      <p:sp>
        <p:nvSpPr>
          <p:cNvPr id="9" name="Shape 7"/>
          <p:cNvSpPr/>
          <p:nvPr/>
        </p:nvSpPr>
        <p:spPr>
          <a:xfrm>
            <a:off x="685800" y="3136392"/>
            <a:ext cx="109728" cy="109728"/>
          </a:xfrm>
          <a:prstGeom prst="ellipse">
            <a:avLst/>
          </a:prstGeom>
          <a:solidFill>
            <a:srgbClr val="FC8019"/>
          </a:solidFill>
          <a:ln/>
        </p:spPr>
      </p:sp>
      <p:sp>
        <p:nvSpPr>
          <p:cNvPr id="10" name="Text 8"/>
          <p:cNvSpPr txBox="1"/>
          <p:nvPr/>
        </p:nvSpPr>
        <p:spPr>
          <a:xfrm>
            <a:off x="960120" y="299008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3E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Calculated columns (Net Revenue, Delivery Speed, Age Group) enrich the model for slicing.</a:t>
            </a:r>
            <a:endParaRPr lang="en-US" sz="1350" dirty="0"/>
          </a:p>
        </p:txBody>
      </p:sp>
      <p:sp>
        <p:nvSpPr>
          <p:cNvPr id="11" name="Shape 9"/>
          <p:cNvSpPr/>
          <p:nvPr/>
        </p:nvSpPr>
        <p:spPr>
          <a:xfrm>
            <a:off x="685800" y="3822192"/>
            <a:ext cx="109728" cy="109728"/>
          </a:xfrm>
          <a:prstGeom prst="ellipse">
            <a:avLst/>
          </a:prstGeom>
          <a:solidFill>
            <a:srgbClr val="FC8019"/>
          </a:solidFill>
          <a:ln/>
        </p:spPr>
      </p:sp>
      <p:sp>
        <p:nvSpPr>
          <p:cNvPr id="12" name="Text 10"/>
          <p:cNvSpPr txBox="1"/>
          <p:nvPr/>
        </p:nvSpPr>
        <p:spPr>
          <a:xfrm>
            <a:off x="960120" y="367588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3E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DAX measures cover revenue, order volume, delivery speed and cancellation rate.</a:t>
            </a:r>
            <a:endParaRPr lang="en-US" sz="1350" dirty="0"/>
          </a:p>
        </p:txBody>
      </p:sp>
      <p:sp>
        <p:nvSpPr>
          <p:cNvPr id="13" name="Shape 11"/>
          <p:cNvSpPr/>
          <p:nvPr/>
        </p:nvSpPr>
        <p:spPr>
          <a:xfrm>
            <a:off x="685800" y="4507992"/>
            <a:ext cx="109728" cy="109728"/>
          </a:xfrm>
          <a:prstGeom prst="ellipse">
            <a:avLst/>
          </a:prstGeom>
          <a:solidFill>
            <a:srgbClr val="FC8019"/>
          </a:solidFill>
          <a:ln/>
        </p:spPr>
      </p:sp>
      <p:sp>
        <p:nvSpPr>
          <p:cNvPr id="14" name="Text 12"/>
          <p:cNvSpPr txBox="1"/>
          <p:nvPr/>
        </p:nvSpPr>
        <p:spPr>
          <a:xfrm>
            <a:off x="960120" y="436168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3E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 combines KPI cards, trend line, donut, bar and scatter visuals with city/cuisine/date filters.</a:t>
            </a:r>
            <a:endParaRPr lang="en-US" sz="1350" dirty="0"/>
          </a:p>
        </p:txBody>
      </p:sp>
      <p:sp>
        <p:nvSpPr>
          <p:cNvPr id="15" name="Shape 13"/>
          <p:cNvSpPr/>
          <p:nvPr/>
        </p:nvSpPr>
        <p:spPr>
          <a:xfrm>
            <a:off x="685800" y="5193792"/>
            <a:ext cx="109728" cy="109728"/>
          </a:xfrm>
          <a:prstGeom prst="ellipse">
            <a:avLst/>
          </a:prstGeom>
          <a:solidFill>
            <a:srgbClr val="FC8019"/>
          </a:solidFill>
          <a:ln/>
        </p:spPr>
      </p:sp>
      <p:sp>
        <p:nvSpPr>
          <p:cNvPr id="16" name="Text 14"/>
          <p:cNvSpPr txBox="1"/>
          <p:nvPr/>
        </p:nvSpPr>
        <p:spPr>
          <a:xfrm>
            <a:off x="960120" y="5047488"/>
            <a:ext cx="1033272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ct val="110000"/>
              </a:lnSpc>
              <a:buNone/>
            </a:pPr>
            <a:r>
              <a:rPr lang="en-US" sz="1350" dirty="0">
                <a:solidFill>
                  <a:srgbClr val="E3E3E5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Delivers insights on demand patterns, top performers, discount impact and cancellation drivers.</a:t>
            </a:r>
            <a:endParaRPr lang="en-US" sz="1350" dirty="0"/>
          </a:p>
        </p:txBody>
      </p:sp>
      <p:sp>
        <p:nvSpPr>
          <p:cNvPr id="17" name="Text 15"/>
          <p:cNvSpPr txBox="1"/>
          <p:nvPr/>
        </p:nvSpPr>
        <p:spPr>
          <a:xfrm>
            <a:off x="640080" y="6172200"/>
            <a:ext cx="5486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800" b="1" dirty="0">
                <a:solidFill>
                  <a:srgbClr val="FC801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2026-09-23T05:58:35Z</dcterms:created>
  <dcterms:modified xsi:type="dcterms:W3CDTF">2026-09-23T05:58:35Z</dcterms:modified>
</cp:coreProperties>
</file>